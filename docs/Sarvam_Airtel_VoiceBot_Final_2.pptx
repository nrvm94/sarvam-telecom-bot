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26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62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Intro: Welcome evaluators. This is a full A+B submission — Voice Bot + Agentic Workflow — built in 7 days using Sarvam's live APIs. Walk through the problem, the product, and the business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the 71% IVR abandonment stat — this is TRAI data. Every abandoned call is a churn risk. The cost trajectory point resonates with CTO and CFO audiences: it's not just a service quality problem, it's a unit economics problem that worsens with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speaks to the end user. The typical Airtel caller is not a tech-savvy app user — they call 121 because voice is their comfort zone. That insight drives the entire solution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point: Yellow.ai and OpenAI route data through US servers — a direct TRAI compliance violation for a regulated telco like Airtel. Gnani.ai is India-local but doesn't have its own full-stack LLM. Sarvam is the only vendor that ticks all three: India-trained LLM, in-country processing, and native code-mixing.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Tata Capital stat (3× engagement) and SBI Life (millions of calls) as anchors. Both are in BFSI — directly comparable to Airtel's regulated, high-volume environment. If the evaluator asks 'has Sarvam done this before?' — yes, multiple times, at enterprise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pipeline left to right. Point out the Sarvam APIs (boxes with teal border). Emphasise: this is a complete A+B solution — the voice bot handles Tier-1 autonomously, and n8n triggers a full agentic workflow for escalation, including WhatsApp delivery and Supabase logging. Demo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Stress-test the conservative scenario: at just 20% adoption (148K calls/day automated), net Year 1 savings are ₹125–138 crore — still 9-10x the investment. The 50% base case is our target. Key objection: 'These numbers seem high' — walk through the assumptions row by 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things on one slide — limitations are honest but brief, showing enterprise maturity. The 90-day plan answers: what happens if I say yes today? Walk left to right. Key close: Day 90 deliverable is a board-ready ROI report built on their own live data — not projections. That is what converts a pilot into a full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474720"/>
            <a:ext cx="2286000" cy="22860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365760"/>
            <a:ext cx="3291840" cy="320040"/>
          </a:xfrm>
          <a:prstGeom prst="roundRect">
            <a:avLst>
              <a:gd name="adj" fmla="val 42857"/>
            </a:avLst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65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 AI  ·  PRE-SALES ASSIGNMENT  ·  2026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100584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Voice Support Bot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02920" y="20574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Customer Support for Airtel — Powered by Sarvam AI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02920" y="2542032"/>
            <a:ext cx="14630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697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D2C Customer Support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Voice Bot + Agentic Workflow   ·   Hindi, English &amp; Marathi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4114800"/>
            <a:ext cx="320040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1605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Neerav Mahadane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github.com/nrvm94/sarvam-telecom-bot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telecom support infrastructure is failing customers at scale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8229600" cy="22860"/>
          </a:xfrm>
          <a:prstGeom prst="rect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34440"/>
            <a:ext cx="19202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71600"/>
            <a:ext cx="1737360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950K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975104"/>
            <a:ext cx="173736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support calls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day — Airtel, all channels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87168" y="1234440"/>
            <a:ext cx="19202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78608" y="1371600"/>
            <a:ext cx="1737360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₹28–35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578608" y="1975104"/>
            <a:ext cx="173736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human agent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08576" y="1234440"/>
            <a:ext cx="19202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53712" y="1384300"/>
            <a:ext cx="2029968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8–12 min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700016" y="1975104"/>
            <a:ext cx="173736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customer wait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peak hours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729984" y="1234440"/>
            <a:ext cx="19202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21424" y="1371600"/>
            <a:ext cx="1737360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821424" y="1975104"/>
            <a:ext cx="173736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 DTMF IVR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resolution (TRAI 2024)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633472"/>
            <a:ext cx="1920240" cy="2304288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02920" y="3200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Barrier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3493008"/>
            <a:ext cx="164592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 of subscribers prefer regional languages. Legacy IVR systems offer Hindi/English only — failing Tier-2 and Tier-3 customers entirely.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487168" y="2633472"/>
            <a:ext cx="1920240" cy="2304288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651760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624328" y="3200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Gap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624328" y="3493008"/>
            <a:ext cx="164592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centres staffed ~18 hours/day. Customers with billing disputes or outages at 2 AM have no recourse.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08576" y="2633472"/>
            <a:ext cx="1920240" cy="2304288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73168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745736" y="3200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Repetition Fatigue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745736" y="3493008"/>
            <a:ext cx="164592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customer repeats their query 2.3× due to misrouting and poor NLU in legacy IVR systems.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729984" y="2633472"/>
            <a:ext cx="1920240" cy="2304288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894576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867144" y="3200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Trajectory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867144" y="3493008"/>
            <a:ext cx="164592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485M subscribers, even 1% call volume growth adds ₹130 crore/year in agent costs — unsustainable at current rates.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Voice AI?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is the natural interface for India's next 300 million connected users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8229600" cy="22860"/>
          </a:xfrm>
          <a:prstGeom prst="rect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34440"/>
            <a:ext cx="31089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71600"/>
            <a:ext cx="2926080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500M+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1892808"/>
            <a:ext cx="292608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Indians use voice search on mobile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(Google India 2024)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2496312"/>
            <a:ext cx="31089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633472"/>
            <a:ext cx="2926080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57200" y="3154680"/>
            <a:ext cx="292608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Tier-2/3 first-time internet users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voice over typing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3758184"/>
            <a:ext cx="31089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3895344"/>
            <a:ext cx="2926080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57200" y="4416552"/>
            <a:ext cx="292608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Airtel Tier-1 queries are fully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resolvable without a human agent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749040" y="1234440"/>
            <a:ext cx="5029200" cy="365760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0" y="1234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Voice Bot vs. Status Quo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749040" y="1600200"/>
            <a:ext cx="1463040" cy="402336"/>
          </a:xfrm>
          <a:prstGeom prst="rect">
            <a:avLst/>
          </a:prstGeom>
          <a:solidFill>
            <a:srgbClr val="0D9488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94760" y="1600200"/>
            <a:ext cx="13716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212080" y="1600200"/>
            <a:ext cx="1645920" cy="402336"/>
          </a:xfrm>
          <a:prstGeom prst="rect">
            <a:avLst/>
          </a:prstGeom>
          <a:solidFill>
            <a:srgbClr val="0D9488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57800" y="1600200"/>
            <a:ext cx="155448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0" y="1600200"/>
            <a:ext cx="1920240" cy="402336"/>
          </a:xfrm>
          <a:prstGeom prst="rect">
            <a:avLst/>
          </a:prstGeom>
          <a:solidFill>
            <a:srgbClr val="0D9488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1600200"/>
            <a:ext cx="18288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AI Voice Bot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749040" y="2002536"/>
            <a:ext cx="1463040" cy="402336"/>
          </a:xfrm>
          <a:prstGeom prst="rect">
            <a:avLst/>
          </a:prstGeom>
          <a:solidFill>
            <a:srgbClr val="F1FD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94760" y="2002536"/>
            <a:ext cx="13716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time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212080" y="2002536"/>
            <a:ext cx="1645920" cy="402336"/>
          </a:xfrm>
          <a:prstGeom prst="rect">
            <a:avLst/>
          </a:prstGeom>
          <a:solidFill>
            <a:srgbClr val="F1FD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57800" y="2002536"/>
            <a:ext cx="155448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 min on hold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58000" y="2002536"/>
            <a:ext cx="1920240" cy="402336"/>
          </a:xfrm>
          <a:prstGeom prst="rect">
            <a:avLst/>
          </a:prstGeom>
          <a:solidFill>
            <a:srgbClr val="F1FD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03720" y="2002536"/>
            <a:ext cx="18288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 seconds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749040" y="2404872"/>
            <a:ext cx="146304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94760" y="2404872"/>
            <a:ext cx="13716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212080" y="2404872"/>
            <a:ext cx="164592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57800" y="2404872"/>
            <a:ext cx="155448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AM – 12 AM only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858000" y="2404872"/>
            <a:ext cx="192024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03720" y="2404872"/>
            <a:ext cx="18288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7 / 365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749040" y="2807208"/>
            <a:ext cx="1463040" cy="402336"/>
          </a:xfrm>
          <a:prstGeom prst="rect">
            <a:avLst/>
          </a:prstGeom>
          <a:solidFill>
            <a:srgbClr val="F1FD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94760" y="2807208"/>
            <a:ext cx="13716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212080" y="2807208"/>
            <a:ext cx="1645920" cy="402336"/>
          </a:xfrm>
          <a:prstGeom prst="rect">
            <a:avLst/>
          </a:prstGeom>
          <a:solidFill>
            <a:srgbClr val="F1FD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57800" y="2807208"/>
            <a:ext cx="155448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+ English only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858000" y="2807208"/>
            <a:ext cx="1920240" cy="402336"/>
          </a:xfrm>
          <a:prstGeom prst="rect">
            <a:avLst/>
          </a:prstGeom>
          <a:solidFill>
            <a:srgbClr val="F1FD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03720" y="2807208"/>
            <a:ext cx="18288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Hindi, English, Marathi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749040" y="3209544"/>
            <a:ext cx="146304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94760" y="3209544"/>
            <a:ext cx="13716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call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212080" y="3209544"/>
            <a:ext cx="164592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57800" y="3209544"/>
            <a:ext cx="155448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₹28–35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858000" y="3209544"/>
            <a:ext cx="192024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03720" y="3209544"/>
            <a:ext cx="18288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₹0.40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749040" y="3611880"/>
            <a:ext cx="1463040" cy="402336"/>
          </a:xfrm>
          <a:prstGeom prst="rect">
            <a:avLst/>
          </a:prstGeom>
          <a:solidFill>
            <a:srgbClr val="F1FD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794760" y="3611880"/>
            <a:ext cx="13716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212080" y="3611880"/>
            <a:ext cx="1645920" cy="402336"/>
          </a:xfrm>
          <a:prstGeom prst="rect">
            <a:avLst/>
          </a:prstGeom>
          <a:solidFill>
            <a:srgbClr val="F1FD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57800" y="3611880"/>
            <a:ext cx="155448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(human error)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858000" y="3611880"/>
            <a:ext cx="1920240" cy="402336"/>
          </a:xfrm>
          <a:prstGeom prst="rect">
            <a:avLst/>
          </a:prstGeom>
          <a:solidFill>
            <a:srgbClr val="F1FD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03720" y="3611880"/>
            <a:ext cx="18288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script adherence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749040" y="4014216"/>
            <a:ext cx="146304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794760" y="4014216"/>
            <a:ext cx="13716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212080" y="4014216"/>
            <a:ext cx="164592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257800" y="4014216"/>
            <a:ext cx="155448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Staffing-constrained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858000" y="4014216"/>
            <a:ext cx="192024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903720" y="4014216"/>
            <a:ext cx="18288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Unlimited, zero incremental cost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Sarvam AI?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AI stack purpose-built for India's languages, regulation, and infrastructure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8229600" cy="22860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88720"/>
            <a:ext cx="1874520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0896" y="1188720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148840" y="1188720"/>
            <a:ext cx="1188720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85416" y="118872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/ AWS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37560" y="1188720"/>
            <a:ext cx="1005840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74136" y="1188720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Yellow.ai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43400" y="1188720"/>
            <a:ext cx="1234440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79976" y="1188720"/>
            <a:ext cx="116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577840" y="1188720"/>
            <a:ext cx="914400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14416" y="1188720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Gnani.ai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92240" y="1188720"/>
            <a:ext cx="2011680" cy="384048"/>
          </a:xfrm>
          <a:prstGeom prst="rect">
            <a:avLst/>
          </a:prstGeom>
          <a:solidFill>
            <a:srgbClr val="0D9488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28816" y="1188720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 AI  ✦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1572768"/>
            <a:ext cx="1874520" cy="374904"/>
          </a:xfrm>
          <a:prstGeom prst="rect">
            <a:avLst/>
          </a:prstGeom>
          <a:solidFill>
            <a:srgbClr val="1A2940"/>
          </a:solidFill>
          <a:ln w="3810">
            <a:solidFill>
              <a:srgbClr val="2430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0896" y="1572768"/>
            <a:ext cx="18013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Hindi-English code-mixing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148840" y="1572768"/>
            <a:ext cx="1188720" cy="374904"/>
          </a:xfrm>
          <a:prstGeom prst="rect">
            <a:avLst/>
          </a:prstGeom>
          <a:solidFill>
            <a:srgbClr val="1A2940"/>
          </a:solidFill>
          <a:ln w="3810">
            <a:solidFill>
              <a:srgbClr val="2430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85416" y="1572768"/>
            <a:ext cx="11155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37560" y="1572768"/>
            <a:ext cx="1005840" cy="374904"/>
          </a:xfrm>
          <a:prstGeom prst="rect">
            <a:avLst/>
          </a:prstGeom>
          <a:solidFill>
            <a:srgbClr val="1A2940"/>
          </a:solidFill>
          <a:ln w="3810">
            <a:solidFill>
              <a:srgbClr val="2430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74136" y="1572768"/>
            <a:ext cx="93268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343400" y="1572768"/>
            <a:ext cx="1234440" cy="374904"/>
          </a:xfrm>
          <a:prstGeom prst="rect">
            <a:avLst/>
          </a:prstGeom>
          <a:solidFill>
            <a:srgbClr val="1A2940"/>
          </a:solidFill>
          <a:ln w="3810">
            <a:solidFill>
              <a:srgbClr val="2430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79976" y="1572768"/>
            <a:ext cx="116128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577840" y="1572768"/>
            <a:ext cx="914400" cy="374904"/>
          </a:xfrm>
          <a:prstGeom prst="rect">
            <a:avLst/>
          </a:prstGeom>
          <a:solidFill>
            <a:srgbClr val="1A2940"/>
          </a:solidFill>
          <a:ln w="3810">
            <a:solidFill>
              <a:srgbClr val="2430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14416" y="1572768"/>
            <a:ext cx="84124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492240" y="1572768"/>
            <a:ext cx="2011680" cy="374904"/>
          </a:xfrm>
          <a:prstGeom prst="rect">
            <a:avLst/>
          </a:prstGeom>
          <a:solidFill>
            <a:srgbClr val="0D3D35"/>
          </a:solidFill>
          <a:ln w="3810">
            <a:solidFill>
              <a:srgbClr val="2430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28816" y="1572768"/>
            <a:ext cx="193852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Native (trained on Hinglish)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1947672"/>
            <a:ext cx="1874520" cy="374904"/>
          </a:xfrm>
          <a:prstGeom prst="rect">
            <a:avLst/>
          </a:prstGeom>
          <a:solidFill>
            <a:srgbClr val="1E293B"/>
          </a:solidFill>
          <a:ln w="3810">
            <a:solidFill>
              <a:srgbClr val="2430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0896" y="1947672"/>
            <a:ext cx="18013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accent STT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148840" y="1947672"/>
            <a:ext cx="1188720" cy="374904"/>
          </a:xfrm>
          <a:prstGeom prst="rect">
            <a:avLst/>
          </a:prstGeom>
          <a:solidFill>
            <a:srgbClr val="1E293B"/>
          </a:solidFill>
          <a:ln w="3810">
            <a:solidFill>
              <a:srgbClr val="2430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85416" y="1947672"/>
            <a:ext cx="11155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337560" y="1947672"/>
            <a:ext cx="1005840" cy="374904"/>
          </a:xfrm>
          <a:prstGeom prst="rect">
            <a:avLst/>
          </a:prstGeom>
          <a:solidFill>
            <a:srgbClr val="1E293B"/>
          </a:solidFill>
          <a:ln w="3810">
            <a:solidFill>
              <a:srgbClr val="2430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74136" y="1947672"/>
            <a:ext cx="93268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3rd-party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343400" y="1947672"/>
            <a:ext cx="1234440" cy="374904"/>
          </a:xfrm>
          <a:prstGeom prst="rect">
            <a:avLst/>
          </a:prstGeom>
          <a:solidFill>
            <a:srgbClr val="1E293B"/>
          </a:solidFill>
          <a:ln w="3810">
            <a:solidFill>
              <a:srgbClr val="2430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79976" y="1947672"/>
            <a:ext cx="116128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fine-tuned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577840" y="1947672"/>
            <a:ext cx="914400" cy="374904"/>
          </a:xfrm>
          <a:prstGeom prst="rect">
            <a:avLst/>
          </a:prstGeom>
          <a:solidFill>
            <a:srgbClr val="1E293B"/>
          </a:solidFill>
          <a:ln w="3810">
            <a:solidFill>
              <a:srgbClr val="2430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14416" y="1947672"/>
            <a:ext cx="84124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492240" y="1947672"/>
            <a:ext cx="2011680" cy="374904"/>
          </a:xfrm>
          <a:prstGeom prst="rect">
            <a:avLst/>
          </a:prstGeom>
          <a:solidFill>
            <a:srgbClr val="0D3D35"/>
          </a:solidFill>
          <a:ln w="3810">
            <a:solidFill>
              <a:srgbClr val="2430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28816" y="1947672"/>
            <a:ext cx="193852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500M+ Indian voices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4320" y="2322576"/>
            <a:ext cx="1874520" cy="374904"/>
          </a:xfrm>
          <a:prstGeom prst="rect">
            <a:avLst/>
          </a:prstGeom>
          <a:solidFill>
            <a:srgbClr val="1A2940"/>
          </a:solidFill>
          <a:ln w="3810">
            <a:solidFill>
              <a:srgbClr val="2430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0896" y="2322576"/>
            <a:ext cx="18013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 latency (India)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148840" y="2322576"/>
            <a:ext cx="1188720" cy="374904"/>
          </a:xfrm>
          <a:prstGeom prst="rect">
            <a:avLst/>
          </a:prstGeom>
          <a:solidFill>
            <a:srgbClr val="1A2940"/>
          </a:solidFill>
          <a:ln w="3810">
            <a:solidFill>
              <a:srgbClr val="2430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185416" y="2322576"/>
            <a:ext cx="11155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800–1200ms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337560" y="2322576"/>
            <a:ext cx="1005840" cy="374904"/>
          </a:xfrm>
          <a:prstGeom prst="rect">
            <a:avLst/>
          </a:prstGeom>
          <a:solidFill>
            <a:srgbClr val="1A2940"/>
          </a:solidFill>
          <a:ln w="3810">
            <a:solidFill>
              <a:srgbClr val="24304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74136" y="2322576"/>
            <a:ext cx="93268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800–1000ms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343400" y="2322576"/>
            <a:ext cx="1234440" cy="374904"/>
          </a:xfrm>
          <a:prstGeom prst="rect">
            <a:avLst/>
          </a:prstGeom>
          <a:solidFill>
            <a:srgbClr val="1A2940"/>
          </a:solidFill>
          <a:ln w="3810">
            <a:solidFill>
              <a:srgbClr val="24304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79976" y="2322576"/>
            <a:ext cx="116128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700–1200ms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577840" y="2322576"/>
            <a:ext cx="914400" cy="374904"/>
          </a:xfrm>
          <a:prstGeom prst="rect">
            <a:avLst/>
          </a:prstGeom>
          <a:solidFill>
            <a:srgbClr val="1A2940"/>
          </a:solidFill>
          <a:ln w="3810">
            <a:solidFill>
              <a:srgbClr val="24304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14416" y="2322576"/>
            <a:ext cx="84124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500–800ms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492240" y="2322576"/>
            <a:ext cx="2011680" cy="374904"/>
          </a:xfrm>
          <a:prstGeom prst="rect">
            <a:avLst/>
          </a:prstGeom>
          <a:solidFill>
            <a:srgbClr val="0D3D35"/>
          </a:solidFill>
          <a:ln w="3810">
            <a:solidFill>
              <a:srgbClr val="24304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28816" y="2322576"/>
            <a:ext cx="193852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300 ms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74320" y="2697480"/>
            <a:ext cx="1874520" cy="374904"/>
          </a:xfrm>
          <a:prstGeom prst="rect">
            <a:avLst/>
          </a:prstGeom>
          <a:solidFill>
            <a:srgbClr val="1E293B"/>
          </a:solidFill>
          <a:ln w="3810">
            <a:solidFill>
              <a:srgbClr val="24304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10896" y="2697480"/>
            <a:ext cx="18013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India-trained LLM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148840" y="2697480"/>
            <a:ext cx="1188720" cy="374904"/>
          </a:xfrm>
          <a:prstGeom prst="rect">
            <a:avLst/>
          </a:prstGeom>
          <a:solidFill>
            <a:srgbClr val="1E293B"/>
          </a:solidFill>
          <a:ln w="3810">
            <a:solidFill>
              <a:srgbClr val="24304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185416" y="2697480"/>
            <a:ext cx="11155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Generic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337560" y="2697480"/>
            <a:ext cx="1005840" cy="374904"/>
          </a:xfrm>
          <a:prstGeom prst="rect">
            <a:avLst/>
          </a:prstGeom>
          <a:solidFill>
            <a:srgbClr val="1E293B"/>
          </a:solidFill>
          <a:ln w="3810">
            <a:solidFill>
              <a:srgbClr val="24304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374136" y="2697480"/>
            <a:ext cx="93268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GPT wrapper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343400" y="2697480"/>
            <a:ext cx="1234440" cy="374904"/>
          </a:xfrm>
          <a:prstGeom prst="rect">
            <a:avLst/>
          </a:prstGeom>
          <a:solidFill>
            <a:srgbClr val="1E293B"/>
          </a:solidFill>
          <a:ln w="3810">
            <a:solidFill>
              <a:srgbClr val="24304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379976" y="2697480"/>
            <a:ext cx="116128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Own but US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577840" y="2697480"/>
            <a:ext cx="914400" cy="374904"/>
          </a:xfrm>
          <a:prstGeom prst="rect">
            <a:avLst/>
          </a:prstGeom>
          <a:solidFill>
            <a:srgbClr val="1E293B"/>
          </a:solidFill>
          <a:ln w="3810">
            <a:solidFill>
              <a:srgbClr val="24304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614416" y="2697480"/>
            <a:ext cx="84124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Wrapper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492240" y="2697480"/>
            <a:ext cx="2011680" cy="374904"/>
          </a:xfrm>
          <a:prstGeom prst="rect">
            <a:avLst/>
          </a:prstGeom>
          <a:solidFill>
            <a:srgbClr val="0D3D35"/>
          </a:solidFill>
          <a:ln w="3810">
            <a:solidFill>
              <a:srgbClr val="24304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528816" y="2697480"/>
            <a:ext cx="193852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sarvam-105b India-first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274320" y="3072384"/>
            <a:ext cx="1874520" cy="374904"/>
          </a:xfrm>
          <a:prstGeom prst="rect">
            <a:avLst/>
          </a:prstGeom>
          <a:solidFill>
            <a:srgbClr val="1A2940"/>
          </a:solidFill>
          <a:ln w="3810">
            <a:solidFill>
              <a:srgbClr val="24304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10896" y="3072384"/>
            <a:ext cx="18013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sovereignty / TRAI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2148840" y="3072384"/>
            <a:ext cx="1188720" cy="374904"/>
          </a:xfrm>
          <a:prstGeom prst="rect">
            <a:avLst/>
          </a:prstGeom>
          <a:solidFill>
            <a:srgbClr val="1A2940"/>
          </a:solidFill>
          <a:ln w="3810">
            <a:solidFill>
              <a:srgbClr val="24304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185416" y="3072384"/>
            <a:ext cx="11155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servers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3337560" y="3072384"/>
            <a:ext cx="1005840" cy="374904"/>
          </a:xfrm>
          <a:prstGeom prst="rect">
            <a:avLst/>
          </a:prstGeom>
          <a:solidFill>
            <a:srgbClr val="1A2940"/>
          </a:solidFill>
          <a:ln w="3810">
            <a:solidFill>
              <a:srgbClr val="24304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374136" y="3072384"/>
            <a:ext cx="93268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servers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343400" y="3072384"/>
            <a:ext cx="1234440" cy="374904"/>
          </a:xfrm>
          <a:prstGeom prst="rect">
            <a:avLst/>
          </a:prstGeom>
          <a:solidFill>
            <a:srgbClr val="1A2940"/>
          </a:solidFill>
          <a:ln w="3810">
            <a:solidFill>
              <a:srgbClr val="24304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379976" y="3072384"/>
            <a:ext cx="116128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servers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5577840" y="3072384"/>
            <a:ext cx="914400" cy="374904"/>
          </a:xfrm>
          <a:prstGeom prst="rect">
            <a:avLst/>
          </a:prstGeom>
          <a:solidFill>
            <a:srgbClr val="1A2940"/>
          </a:solidFill>
          <a:ln w="3810">
            <a:solidFill>
              <a:srgbClr val="24304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614416" y="3072384"/>
            <a:ext cx="84124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6492240" y="3072384"/>
            <a:ext cx="2011680" cy="374904"/>
          </a:xfrm>
          <a:prstGeom prst="rect">
            <a:avLst/>
          </a:prstGeom>
          <a:solidFill>
            <a:srgbClr val="0D3D35"/>
          </a:solidFill>
          <a:ln w="3810">
            <a:solidFill>
              <a:srgbClr val="243044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528816" y="3072384"/>
            <a:ext cx="193852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In-country processing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274320" y="3447288"/>
            <a:ext cx="1874520" cy="374904"/>
          </a:xfrm>
          <a:prstGeom prst="rect">
            <a:avLst/>
          </a:prstGeom>
          <a:solidFill>
            <a:srgbClr val="1E293B"/>
          </a:solidFill>
          <a:ln w="3810">
            <a:solidFill>
              <a:srgbClr val="243044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10896" y="3447288"/>
            <a:ext cx="18013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deployment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2148840" y="3447288"/>
            <a:ext cx="1188720" cy="374904"/>
          </a:xfrm>
          <a:prstGeom prst="rect">
            <a:avLst/>
          </a:prstGeom>
          <a:solidFill>
            <a:srgbClr val="1E293B"/>
          </a:solidFill>
          <a:ln w="3810">
            <a:solidFill>
              <a:srgbClr val="243044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185416" y="3447288"/>
            <a:ext cx="11155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3337560" y="3447288"/>
            <a:ext cx="1005840" cy="374904"/>
          </a:xfrm>
          <a:prstGeom prst="rect">
            <a:avLst/>
          </a:prstGeom>
          <a:solidFill>
            <a:srgbClr val="1E293B"/>
          </a:solidFill>
          <a:ln w="3810">
            <a:solidFill>
              <a:srgbClr val="243044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374136" y="3447288"/>
            <a:ext cx="93268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343400" y="3447288"/>
            <a:ext cx="1234440" cy="374904"/>
          </a:xfrm>
          <a:prstGeom prst="rect">
            <a:avLst/>
          </a:prstGeom>
          <a:solidFill>
            <a:srgbClr val="1E293B"/>
          </a:solidFill>
          <a:ln w="3810">
            <a:solidFill>
              <a:srgbClr val="243044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379976" y="3447288"/>
            <a:ext cx="116128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5577840" y="3447288"/>
            <a:ext cx="914400" cy="374904"/>
          </a:xfrm>
          <a:prstGeom prst="rect">
            <a:avLst/>
          </a:prstGeom>
          <a:solidFill>
            <a:srgbClr val="1E293B"/>
          </a:solidFill>
          <a:ln w="3810">
            <a:solidFill>
              <a:srgbClr val="243044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614416" y="3447288"/>
            <a:ext cx="84124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6492240" y="3447288"/>
            <a:ext cx="2011680" cy="374904"/>
          </a:xfrm>
          <a:prstGeom prst="rect">
            <a:avLst/>
          </a:prstGeom>
          <a:solidFill>
            <a:srgbClr val="0D3D35"/>
          </a:solidFill>
          <a:ln w="3810">
            <a:solidFill>
              <a:srgbClr val="243044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528816" y="3447288"/>
            <a:ext cx="193852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Private cloud / on-prem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274320" y="3822192"/>
            <a:ext cx="1874520" cy="374904"/>
          </a:xfrm>
          <a:prstGeom prst="rect">
            <a:avLst/>
          </a:prstGeom>
          <a:solidFill>
            <a:srgbClr val="1A2940"/>
          </a:solidFill>
          <a:ln w="3810">
            <a:solidFill>
              <a:srgbClr val="243044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10896" y="3822192"/>
            <a:ext cx="18013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language breadth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2148840" y="3822192"/>
            <a:ext cx="1188720" cy="374904"/>
          </a:xfrm>
          <a:prstGeom prst="rect">
            <a:avLst/>
          </a:prstGeom>
          <a:solidFill>
            <a:srgbClr val="1A2940"/>
          </a:solidFill>
          <a:ln w="3810">
            <a:solidFill>
              <a:srgbClr val="243044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185416" y="3822192"/>
            <a:ext cx="11155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langs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3337560" y="3822192"/>
            <a:ext cx="1005840" cy="374904"/>
          </a:xfrm>
          <a:prstGeom prst="rect">
            <a:avLst/>
          </a:prstGeom>
          <a:solidFill>
            <a:srgbClr val="1A2940"/>
          </a:solidFill>
          <a:ln w="3810">
            <a:solidFill>
              <a:srgbClr val="243044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374136" y="3822192"/>
            <a:ext cx="93268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langs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4343400" y="3822192"/>
            <a:ext cx="1234440" cy="374904"/>
          </a:xfrm>
          <a:prstGeom prst="rect">
            <a:avLst/>
          </a:prstGeom>
          <a:solidFill>
            <a:srgbClr val="1A2940"/>
          </a:solidFill>
          <a:ln w="3810">
            <a:solidFill>
              <a:srgbClr val="243044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379976" y="3822192"/>
            <a:ext cx="116128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langs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5577840" y="3822192"/>
            <a:ext cx="914400" cy="374904"/>
          </a:xfrm>
          <a:prstGeom prst="rect">
            <a:avLst/>
          </a:prstGeom>
          <a:solidFill>
            <a:srgbClr val="1A2940"/>
          </a:solidFill>
          <a:ln w="3810">
            <a:solidFill>
              <a:srgbClr val="243044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614416" y="3822192"/>
            <a:ext cx="84124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langs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6492240" y="3822192"/>
            <a:ext cx="2011680" cy="374904"/>
          </a:xfrm>
          <a:prstGeom prst="rect">
            <a:avLst/>
          </a:prstGeom>
          <a:solidFill>
            <a:srgbClr val="0D3D35"/>
          </a:solidFill>
          <a:ln w="3810">
            <a:solidFill>
              <a:srgbClr val="243044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528816" y="3822192"/>
            <a:ext cx="193852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22+ Indian languages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274320" y="4197096"/>
            <a:ext cx="1874520" cy="374904"/>
          </a:xfrm>
          <a:prstGeom prst="rect">
            <a:avLst/>
          </a:prstGeom>
          <a:solidFill>
            <a:srgbClr val="1E293B"/>
          </a:solidFill>
          <a:ln w="3810">
            <a:solidFill>
              <a:srgbClr val="243044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10896" y="4197096"/>
            <a:ext cx="18013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lock-in risk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2148840" y="4197096"/>
            <a:ext cx="1188720" cy="374904"/>
          </a:xfrm>
          <a:prstGeom prst="rect">
            <a:avLst/>
          </a:prstGeom>
          <a:solidFill>
            <a:srgbClr val="1E293B"/>
          </a:solidFill>
          <a:ln w="3810">
            <a:solidFill>
              <a:srgbClr val="243044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185416" y="4197096"/>
            <a:ext cx="11155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3337560" y="4197096"/>
            <a:ext cx="1005840" cy="374904"/>
          </a:xfrm>
          <a:prstGeom prst="rect">
            <a:avLst/>
          </a:prstGeom>
          <a:solidFill>
            <a:srgbClr val="1E293B"/>
          </a:solidFill>
          <a:ln w="3810">
            <a:solidFill>
              <a:srgbClr val="243044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3374136" y="4197096"/>
            <a:ext cx="93268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4343400" y="4197096"/>
            <a:ext cx="1234440" cy="374904"/>
          </a:xfrm>
          <a:prstGeom prst="rect">
            <a:avLst/>
          </a:prstGeom>
          <a:solidFill>
            <a:srgbClr val="1E293B"/>
          </a:solidFill>
          <a:ln w="3810">
            <a:solidFill>
              <a:srgbClr val="243044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379976" y="4197096"/>
            <a:ext cx="116128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5577840" y="4197096"/>
            <a:ext cx="914400" cy="374904"/>
          </a:xfrm>
          <a:prstGeom prst="rect">
            <a:avLst/>
          </a:prstGeom>
          <a:solidFill>
            <a:srgbClr val="1E293B"/>
          </a:solidFill>
          <a:ln w="3810">
            <a:solidFill>
              <a:srgbClr val="243044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614416" y="4197096"/>
            <a:ext cx="84124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6492240" y="4197096"/>
            <a:ext cx="2011680" cy="374904"/>
          </a:xfrm>
          <a:prstGeom prst="rect">
            <a:avLst/>
          </a:prstGeom>
          <a:solidFill>
            <a:srgbClr val="0D3D35"/>
          </a:solidFill>
          <a:ln w="3810">
            <a:solidFill>
              <a:srgbClr val="243044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6528816" y="4197096"/>
            <a:ext cx="193852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OpenAI-compatible API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274320" y="4617720"/>
            <a:ext cx="8595360" cy="347472"/>
          </a:xfrm>
          <a:prstGeom prst="roundRect">
            <a:avLst>
              <a:gd name="adj" fmla="val 15789"/>
            </a:avLst>
          </a:prstGeom>
          <a:solidFill>
            <a:srgbClr val="0D9488">
              <a:alpha val="85000"/>
            </a:srgbClr>
          </a:solidFill>
          <a:ln w="12700">
            <a:solidFill>
              <a:srgbClr val="0D9488">
                <a:alpha val="70000"/>
              </a:srgbClr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Airtel: TRAI compliance + on-premise deployment + Hinglish code-mixing is a non-negotiable stack — only Sarvam delivers all three natively.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Sarvam AI — Enterprise Proof Points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at scale across BFSI, Government, and Service industries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8229600" cy="22860"/>
          </a:xfrm>
          <a:prstGeom prst="rect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23444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44168"/>
            <a:ext cx="1371600" cy="201168"/>
          </a:xfrm>
          <a:prstGeom prst="roundRect">
            <a:avLst>
              <a:gd name="adj" fmla="val 36364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441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BFSI · Insurance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7200" y="1572768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SBI Life Insurance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2386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calls automated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176272"/>
            <a:ext cx="23865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voice agents handle policy inquiries, renewal reminders, and claims status in 10+ Indian languages — 24/7, at a fraction of human agent cost.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82112" y="123444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344168"/>
            <a:ext cx="1371600" cy="201168"/>
          </a:xfrm>
          <a:prstGeom prst="roundRect">
            <a:avLst>
              <a:gd name="adj" fmla="val 36364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3441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BFSI · Consumer Lending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291840" y="1572768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Tata Capital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1828800"/>
            <a:ext cx="2386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increase in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engagement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291840" y="2176272"/>
            <a:ext cx="23865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voice agents across consumer loan products — personalised, segment-specific conversations that break language barriers at scale.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016752" y="123444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344168"/>
            <a:ext cx="1371600" cy="201168"/>
          </a:xfrm>
          <a:prstGeom prst="roundRect">
            <a:avLst>
              <a:gd name="adj" fmla="val 36364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3441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BFSI · Rural Finance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126480" y="1572768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Mahindra Finance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26480" y="1828800"/>
            <a:ext cx="2386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Rural-first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collections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26480" y="2176272"/>
            <a:ext cx="23865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EMI reminder agent reaching farmers and rural borrowers in their native language — populations unreachable via text or app.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47472" y="292608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035808"/>
            <a:ext cx="1371600" cy="201168"/>
          </a:xfrm>
          <a:prstGeom prst="roundRect">
            <a:avLst>
              <a:gd name="adj" fmla="val 36364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0358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D2C · On-demand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57200" y="3264408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Urban Company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3520440"/>
            <a:ext cx="2386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Post-service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follow-up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3867912"/>
            <a:ext cx="23865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voice-first customer feedback and support resolution — reducing manual callback queues for service quality escalations.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182112" y="292608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91840" y="3035808"/>
            <a:ext cx="1371600" cy="201168"/>
          </a:xfrm>
          <a:prstGeom prst="roundRect">
            <a:avLst>
              <a:gd name="adj" fmla="val 36364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0" y="30358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291840" y="3264408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India / NABARD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291840" y="3520440"/>
            <a:ext cx="2386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50,000+ farmer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calls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291840" y="3867912"/>
            <a:ext cx="23865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 collecting structured citizen feedback for Farmer Field School programmes in Maharashtra — government-scale regional language reach.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016752" y="292608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F0FDFA"/>
          </a:solidFill>
          <a:ln w="635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81344" y="3063240"/>
            <a:ext cx="22768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Airtel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deployment above mirrors Airtel's challenge: high-volume, multilingual, cost-sensitive. Sarvam's stack is already proven at this scale.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47472" y="480060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Sarvam.ai 2025–26  ·  Tata Capital CDO testimonial  ·  Skill India / NABARD programme report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4B8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solution: Voice Bot + Agentic Escalation Workflow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8229600" cy="22860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1234440"/>
            <a:ext cx="146304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 w="10160">
            <a:solidFill>
              <a:srgbClr val="2D3F55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325880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325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384048" y="16916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Customer Browser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384048" y="203911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WebRTC mic capture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Audio → base64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783080" y="1920240"/>
            <a:ext cx="146304" cy="45720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>
                <a:alpha val="7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83080" y="1815084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D94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956816" y="1234440"/>
            <a:ext cx="1463040" cy="1417320"/>
          </a:xfrm>
          <a:prstGeom prst="roundRect">
            <a:avLst>
              <a:gd name="adj" fmla="val 6452"/>
            </a:avLst>
          </a:prstGeom>
          <a:solidFill>
            <a:srgbClr val="0D3D35"/>
          </a:solidFill>
          <a:ln w="10160">
            <a:solidFill>
              <a:srgbClr val="0D948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48256" y="1325880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48256" y="1325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048256" y="16916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4B8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Sarvam Saaras v3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048256" y="203911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STT · Hindi/English/Marathi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auto-detection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≤ 300 ms latency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447288" y="1920240"/>
            <a:ext cx="146304" cy="45720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>
                <a:alpha val="7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47288" y="1815084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D94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621024" y="1234440"/>
            <a:ext cx="146304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 w="10160">
            <a:solidFill>
              <a:srgbClr val="2D3F55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12464" y="1325880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12464" y="1325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712464" y="16916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RAG + sarvam-105b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712464" y="203911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ChromaDB retrieval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Airtel KB docs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1–2 sec response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111496" y="1920240"/>
            <a:ext cx="146304" cy="45720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>
                <a:alpha val="7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11496" y="1815084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D94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285232" y="1234440"/>
            <a:ext cx="1463040" cy="1417320"/>
          </a:xfrm>
          <a:prstGeom prst="roundRect">
            <a:avLst>
              <a:gd name="adj" fmla="val 6452"/>
            </a:avLst>
          </a:prstGeom>
          <a:solidFill>
            <a:srgbClr val="0D3D35"/>
          </a:solidFill>
          <a:ln w="10160">
            <a:solidFill>
              <a:srgbClr val="0D948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376672" y="1325880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76672" y="1325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376672" y="16916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4B8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Sarvam Bulbul v3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376672" y="203911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TTS · Natural Indian voice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37+ speakers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8kHz telephony output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775704" y="1920240"/>
            <a:ext cx="146304" cy="45720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>
                <a:alpha val="7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75704" y="1815084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D94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949440" y="1234440"/>
            <a:ext cx="146304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 w="10160">
            <a:solidFill>
              <a:srgbClr val="2D3F55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040880" y="1325880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40880" y="1325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040880" y="16916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Spoken Response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040880" y="203911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Audio played in browser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~3–5 sec total RTT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292608" y="28803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14B8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PATH  (Agentic Workflow — triggers when bot cannot resolve)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292608" y="3172968"/>
            <a:ext cx="1417320" cy="713232"/>
          </a:xfrm>
          <a:prstGeom prst="roundRect">
            <a:avLst>
              <a:gd name="adj" fmla="val 10256"/>
            </a:avLst>
          </a:prstGeom>
          <a:solidFill>
            <a:srgbClr val="1A1A3A"/>
          </a:solidFill>
          <a:ln w="7620">
            <a:solidFill>
              <a:srgbClr val="3B4F8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3264408"/>
            <a:ext cx="1271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A5B4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Complex Issue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A5B4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Detected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1737360" y="3410712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B4F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1929384" y="3172968"/>
            <a:ext cx="1417320" cy="713232"/>
          </a:xfrm>
          <a:prstGeom prst="roundRect">
            <a:avLst>
              <a:gd name="adj" fmla="val 10256"/>
            </a:avLst>
          </a:prstGeom>
          <a:solidFill>
            <a:srgbClr val="1A1A3A"/>
          </a:solidFill>
          <a:ln w="7620">
            <a:solidFill>
              <a:srgbClr val="3B4F8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002536" y="3264408"/>
            <a:ext cx="1271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A5B4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n8n Webhook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A5B4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3374136" y="3410712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B4F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3566160" y="3172968"/>
            <a:ext cx="1417320" cy="713232"/>
          </a:xfrm>
          <a:prstGeom prst="roundRect">
            <a:avLst>
              <a:gd name="adj" fmla="val 10256"/>
            </a:avLst>
          </a:prstGeom>
          <a:solidFill>
            <a:srgbClr val="1A1A3A"/>
          </a:solidFill>
          <a:ln w="7620">
            <a:solidFill>
              <a:srgbClr val="3B4F8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39312" y="3264408"/>
            <a:ext cx="1271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9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Ticket System</a:t>
            </a:r>
            <a:endParaRPr lang="en-US" sz="900" b="1" dirty="0">
              <a:solidFill>
                <a:srgbClr val="A5B4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5010912" y="3410712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B4F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5202936" y="3172968"/>
            <a:ext cx="1417320" cy="713232"/>
          </a:xfrm>
          <a:prstGeom prst="roundRect">
            <a:avLst>
              <a:gd name="adj" fmla="val 10256"/>
            </a:avLst>
          </a:prstGeom>
          <a:solidFill>
            <a:srgbClr val="1A1A3A"/>
          </a:solidFill>
          <a:ln w="7620">
            <a:solidFill>
              <a:srgbClr val="3B4F8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76088" y="3264408"/>
            <a:ext cx="1271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A5B4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360dialog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A5B4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WhatsApp API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6647688" y="3410712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B4F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6839712" y="3172968"/>
            <a:ext cx="1417320" cy="713232"/>
          </a:xfrm>
          <a:prstGeom prst="roundRect">
            <a:avLst>
              <a:gd name="adj" fmla="val 10256"/>
            </a:avLst>
          </a:prstGeom>
          <a:solidFill>
            <a:srgbClr val="1A1A3A"/>
          </a:solidFill>
          <a:ln w="7620">
            <a:solidFill>
              <a:srgbClr val="3B4F8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12864" y="3264408"/>
            <a:ext cx="1271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A5B4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A5B4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Call Log Update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77724" y="453066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Stack: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480381" y="4530664"/>
            <a:ext cx="1125765" cy="256032"/>
          </a:xfrm>
          <a:prstGeom prst="roundRect">
            <a:avLst>
              <a:gd name="adj" fmla="val 28571"/>
            </a:avLst>
          </a:prstGeom>
          <a:solidFill>
            <a:srgbClr val="1E293B"/>
          </a:solidFill>
          <a:ln w="6350">
            <a:solidFill>
              <a:srgbClr val="2D3F5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8365" y="4530664"/>
            <a:ext cx="10612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1873968" y="4530664"/>
            <a:ext cx="1187904" cy="256032"/>
          </a:xfrm>
          <a:prstGeom prst="roundRect">
            <a:avLst>
              <a:gd name="adj" fmla="val 28571"/>
            </a:avLst>
          </a:prstGeom>
          <a:solidFill>
            <a:srgbClr val="1E293B"/>
          </a:solidFill>
          <a:ln w="6350">
            <a:solidFill>
              <a:srgbClr val="2D3F5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901952" y="4530664"/>
            <a:ext cx="1123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Python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3313153" y="4530664"/>
            <a:ext cx="1063626" cy="256032"/>
          </a:xfrm>
          <a:prstGeom prst="roundRect">
            <a:avLst>
              <a:gd name="adj" fmla="val 28571"/>
            </a:avLst>
          </a:prstGeom>
          <a:solidFill>
            <a:srgbClr val="1E293B"/>
          </a:solidFill>
          <a:ln w="6350">
            <a:solidFill>
              <a:srgbClr val="2D3F5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341137" y="4530664"/>
            <a:ext cx="9990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ChromaDB (RAG)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4685949" y="4530664"/>
            <a:ext cx="1307755" cy="256032"/>
          </a:xfrm>
          <a:prstGeom prst="roundRect">
            <a:avLst>
              <a:gd name="adj" fmla="val 28571"/>
            </a:avLst>
          </a:prstGeom>
          <a:solidFill>
            <a:srgbClr val="1E293B"/>
          </a:solidFill>
          <a:ln w="6350">
            <a:solidFill>
              <a:srgbClr val="2D3F5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13933" y="4530664"/>
            <a:ext cx="14340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(PostgreSQL)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6435829" y="4530664"/>
            <a:ext cx="925091" cy="256032"/>
          </a:xfrm>
          <a:prstGeom prst="roundRect">
            <a:avLst>
              <a:gd name="adj" fmla="val 28571"/>
            </a:avLst>
          </a:prstGeom>
          <a:solidFill>
            <a:srgbClr val="1E293B"/>
          </a:solidFill>
          <a:ln w="6350">
            <a:solidFill>
              <a:srgbClr val="2D3F5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63813" y="4530664"/>
            <a:ext cx="9990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n8n Automation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7783815" y="4530664"/>
            <a:ext cx="1159769" cy="256032"/>
          </a:xfrm>
          <a:prstGeom prst="roundRect">
            <a:avLst>
              <a:gd name="adj" fmla="val 28571"/>
            </a:avLst>
          </a:prstGeom>
          <a:solidFill>
            <a:srgbClr val="1E293B"/>
          </a:solidFill>
          <a:ln w="6350">
            <a:solidFill>
              <a:srgbClr val="2D3F5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811799" y="4530664"/>
            <a:ext cx="107616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360dialog WhatsApp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292608" y="484632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github.com/nrvm94/sarvam-telecom-bot  ·  Full source code, .env.example, setup guide, architecture docs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ROI &amp; Business Case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Realistic enterprise cost model with scenario-based adoption assumptions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8229600" cy="22860"/>
          </a:xfrm>
          <a:prstGeom prst="rect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309596"/>
            <a:ext cx="256032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38912" y="1446756"/>
            <a:ext cx="2377440" cy="532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D948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₹0.40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38912" y="1924073"/>
            <a:ext cx="2377440" cy="389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cost per AI-handled call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vs ₹28–35 human agent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182112" y="1309596"/>
            <a:ext cx="256032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73552" y="1446756"/>
            <a:ext cx="2377440" cy="532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D948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70×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273552" y="1924073"/>
            <a:ext cx="2377440" cy="389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cost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per interaction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016752" y="1309596"/>
            <a:ext cx="256032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08192" y="1446756"/>
            <a:ext cx="2377440" cy="532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D948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&lt; 5 weeks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108192" y="1924073"/>
            <a:ext cx="2377440" cy="389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at conservative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20% adoption rate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2E3535CF-31D8-4C4A-3CBB-C6D22C19718A}"/>
              </a:ext>
            </a:extLst>
          </p:cNvPr>
          <p:cNvGrpSpPr/>
          <p:nvPr/>
        </p:nvGrpSpPr>
        <p:grpSpPr>
          <a:xfrm>
            <a:off x="347472" y="2410885"/>
            <a:ext cx="8449056" cy="2276293"/>
            <a:chOff x="347472" y="2423160"/>
            <a:chExt cx="8449056" cy="2276293"/>
          </a:xfrm>
        </p:grpSpPr>
        <p:sp>
          <p:nvSpPr>
            <p:cNvPr id="14" name="Shape 12"/>
            <p:cNvSpPr/>
            <p:nvPr/>
          </p:nvSpPr>
          <p:spPr>
            <a:xfrm>
              <a:off x="347472" y="2423160"/>
              <a:ext cx="2560320" cy="2276293"/>
            </a:xfrm>
            <a:prstGeom prst="roundRect">
              <a:avLst>
                <a:gd name="adj" fmla="val 3731"/>
              </a:avLst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outerShdw blurRad="101600" dist="25400" dir="27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30" name="Shape 28"/>
            <p:cNvSpPr/>
            <p:nvPr/>
          </p:nvSpPr>
          <p:spPr>
            <a:xfrm>
              <a:off x="3127248" y="2423160"/>
              <a:ext cx="5669280" cy="2276293"/>
            </a:xfrm>
            <a:prstGeom prst="roundRect">
              <a:avLst>
                <a:gd name="adj" fmla="val 3731"/>
              </a:avLst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outerShdw blurRad="101600" dist="25400" dir="2700000" algn="bl" rotWithShape="0">
                <a:srgbClr val="000000">
                  <a:alpha val="10000"/>
                </a:srgbClr>
              </a:outerShdw>
            </a:effectLst>
          </p:spPr>
        </p: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A519F0BC-F2D8-CCDF-9CF1-E3EC9B4C9512}"/>
                </a:ext>
              </a:extLst>
            </p:cNvPr>
            <p:cNvGrpSpPr/>
            <p:nvPr/>
          </p:nvGrpSpPr>
          <p:grpSpPr>
            <a:xfrm>
              <a:off x="453644" y="2423160"/>
              <a:ext cx="8187436" cy="2218381"/>
              <a:chOff x="453644" y="2487168"/>
              <a:chExt cx="8187436" cy="2218381"/>
            </a:xfrm>
          </p:grpSpPr>
          <p:sp>
            <p:nvSpPr>
              <p:cNvPr id="15" name="Text 13"/>
              <p:cNvSpPr/>
              <p:nvPr/>
            </p:nvSpPr>
            <p:spPr>
              <a:xfrm>
                <a:off x="457200" y="2487168"/>
                <a:ext cx="2340864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F172A"/>
                    </a:solidFill>
                    <a:effectLst/>
                    <a:uLnTx/>
                    <a:uFillTx/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Investment (Year 1)</a:t>
                </a:r>
                <a:endPara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" name="Text 14"/>
              <p:cNvSpPr/>
              <p:nvPr/>
            </p:nvSpPr>
            <p:spPr>
              <a:xfrm>
                <a:off x="493776" y="2834640"/>
                <a:ext cx="1645920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64748B"/>
                    </a:solidFill>
                    <a:effectLst/>
                    <a:uLnTx/>
                    <a:uFillTx/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Telephony / SIP integration</a:t>
                </a:r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" name="Text 15"/>
              <p:cNvSpPr/>
              <p:nvPr/>
            </p:nvSpPr>
            <p:spPr>
              <a:xfrm>
                <a:off x="2011680" y="2834640"/>
                <a:ext cx="640080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64748B"/>
                    </a:solidFill>
                    <a:effectLst/>
                    <a:uLnTx/>
                    <a:uFillTx/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₹2–3 Cr</a:t>
                </a:r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Text 16"/>
              <p:cNvSpPr/>
              <p:nvPr/>
            </p:nvSpPr>
            <p:spPr>
              <a:xfrm>
                <a:off x="493776" y="3136392"/>
                <a:ext cx="1645920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64748B"/>
                    </a:solidFill>
                    <a:effectLst/>
                    <a:uLnTx/>
                    <a:uFillTx/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LLM fine-tuning + KB ingestion</a:t>
                </a:r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" name="Text 17"/>
              <p:cNvSpPr/>
              <p:nvPr/>
            </p:nvSpPr>
            <p:spPr>
              <a:xfrm>
                <a:off x="2011680" y="3136392"/>
                <a:ext cx="640080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64748B"/>
                    </a:solidFill>
                    <a:effectLst/>
                    <a:uLnTx/>
                    <a:uFillTx/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₹1.5–2 Cr</a:t>
                </a:r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" name="Text 18"/>
              <p:cNvSpPr/>
              <p:nvPr/>
            </p:nvSpPr>
            <p:spPr>
              <a:xfrm>
                <a:off x="493776" y="3438144"/>
                <a:ext cx="1645920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64748B"/>
                    </a:solidFill>
                    <a:effectLst/>
                    <a:uLnTx/>
                    <a:uFillTx/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CRM + billing integration</a:t>
                </a:r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" name="Text 19"/>
              <p:cNvSpPr/>
              <p:nvPr/>
            </p:nvSpPr>
            <p:spPr>
              <a:xfrm>
                <a:off x="2011680" y="3438144"/>
                <a:ext cx="640080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64748B"/>
                    </a:solidFill>
                    <a:effectLst/>
                    <a:uLnTx/>
                    <a:uFillTx/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₹2–3 Cr</a:t>
                </a:r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" name="Text 20"/>
              <p:cNvSpPr/>
              <p:nvPr/>
            </p:nvSpPr>
            <p:spPr>
              <a:xfrm>
                <a:off x="493776" y="3739896"/>
                <a:ext cx="1645920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64748B"/>
                    </a:solidFill>
                    <a:effectLst/>
                    <a:uLnTx/>
                    <a:uFillTx/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Cloud infra + GPU + redundancy</a:t>
                </a:r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" name="Text 21"/>
              <p:cNvSpPr/>
              <p:nvPr/>
            </p:nvSpPr>
            <p:spPr>
              <a:xfrm>
                <a:off x="2011680" y="3739896"/>
                <a:ext cx="640080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64748B"/>
                    </a:solidFill>
                    <a:effectLst/>
                    <a:uLnTx/>
                    <a:uFillTx/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₹2–3 Cr</a:t>
                </a:r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" name="Text 22"/>
              <p:cNvSpPr/>
              <p:nvPr/>
            </p:nvSpPr>
            <p:spPr>
              <a:xfrm>
                <a:off x="493776" y="4041648"/>
                <a:ext cx="1645920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64748B"/>
                    </a:solidFill>
                    <a:effectLst/>
                    <a:uLnTx/>
                    <a:uFillTx/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Security + compliance + change mgmt</a:t>
                </a:r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" name="Text 23"/>
              <p:cNvSpPr/>
              <p:nvPr/>
            </p:nvSpPr>
            <p:spPr>
              <a:xfrm>
                <a:off x="2011680" y="4041648"/>
                <a:ext cx="640080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64748B"/>
                    </a:solidFill>
                    <a:effectLst/>
                    <a:uLnTx/>
                    <a:uFillTx/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₹2–3 Cr</a:t>
                </a:r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" name="Shape 24"/>
              <p:cNvSpPr/>
              <p:nvPr/>
            </p:nvSpPr>
            <p:spPr>
              <a:xfrm>
                <a:off x="457200" y="4325111"/>
                <a:ext cx="2404872" cy="352923"/>
              </a:xfrm>
              <a:prstGeom prst="rect">
                <a:avLst/>
              </a:prstGeom>
              <a:solidFill>
                <a:srgbClr val="FEF3C7"/>
              </a:solidFill>
              <a:ln w="3810">
                <a:solidFill>
                  <a:srgbClr val="E2E8F0"/>
                </a:solidFill>
                <a:prstDash val="solid"/>
              </a:ln>
            </p:spPr>
          </p:sp>
          <p:sp>
            <p:nvSpPr>
              <p:cNvPr id="27" name="Text 25"/>
              <p:cNvSpPr/>
              <p:nvPr/>
            </p:nvSpPr>
            <p:spPr>
              <a:xfrm>
                <a:off x="493776" y="4343400"/>
                <a:ext cx="1645920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F172A"/>
                    </a:solidFill>
                    <a:effectLst/>
                    <a:uLnTx/>
                    <a:uFillTx/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Total setup cost</a:t>
                </a:r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" name="Text 26"/>
              <p:cNvSpPr/>
              <p:nvPr/>
            </p:nvSpPr>
            <p:spPr>
              <a:xfrm>
                <a:off x="2011680" y="4343400"/>
                <a:ext cx="640080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F172A"/>
                    </a:solidFill>
                    <a:effectLst/>
                    <a:uLnTx/>
                    <a:uFillTx/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₹10–14 Cr</a:t>
                </a:r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" name="Text 27"/>
              <p:cNvSpPr/>
              <p:nvPr/>
            </p:nvSpPr>
            <p:spPr>
              <a:xfrm>
                <a:off x="453644" y="4559245"/>
                <a:ext cx="2551176" cy="14630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5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Year 2+ OpEx: Sarvam API + infra + support = ₹11–16 Cr/year</a:t>
                </a:r>
                <a:endParaRPr kumimoji="0" lang="en-US" sz="75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" name="Text 29"/>
              <p:cNvSpPr/>
              <p:nvPr/>
            </p:nvSpPr>
            <p:spPr>
              <a:xfrm>
                <a:off x="3246120" y="2487168"/>
                <a:ext cx="5394960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F172A"/>
                    </a:solidFill>
                    <a:effectLst/>
                    <a:uLnTx/>
                    <a:uFillTx/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Returns by Adoption Scenario</a:t>
                </a:r>
                <a:endPara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" name="Shape 30"/>
              <p:cNvSpPr/>
              <p:nvPr/>
            </p:nvSpPr>
            <p:spPr>
              <a:xfrm>
                <a:off x="3246120" y="2816352"/>
                <a:ext cx="1188720" cy="292608"/>
              </a:xfrm>
              <a:prstGeom prst="rect">
                <a:avLst/>
              </a:prstGeom>
              <a:solidFill>
                <a:srgbClr val="FFFFFF"/>
              </a:solidFill>
              <a:ln w="3810">
                <a:solidFill>
                  <a:srgbClr val="E2E8F0"/>
                </a:solidFill>
                <a:prstDash val="solid"/>
              </a:ln>
            </p:spPr>
          </p:sp>
          <p:sp>
            <p:nvSpPr>
              <p:cNvPr id="33" name="Text 31"/>
              <p:cNvSpPr/>
              <p:nvPr/>
            </p:nvSpPr>
            <p:spPr>
              <a:xfrm>
                <a:off x="3282696" y="2816352"/>
                <a:ext cx="1115568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4" name="Shape 32"/>
              <p:cNvSpPr/>
              <p:nvPr/>
            </p:nvSpPr>
            <p:spPr>
              <a:xfrm>
                <a:off x="4480560" y="2816352"/>
                <a:ext cx="1280160" cy="292608"/>
              </a:xfrm>
              <a:prstGeom prst="rect">
                <a:avLst/>
              </a:prstGeom>
              <a:solidFill>
                <a:srgbClr val="0F172A"/>
              </a:solidFill>
              <a:ln w="3810">
                <a:solidFill>
                  <a:srgbClr val="E2E8F0"/>
                </a:solidFill>
                <a:prstDash val="solid"/>
              </a:ln>
            </p:spPr>
          </p:sp>
          <p:sp>
            <p:nvSpPr>
              <p:cNvPr id="35" name="Text 33"/>
              <p:cNvSpPr/>
              <p:nvPr/>
            </p:nvSpPr>
            <p:spPr>
              <a:xfrm>
                <a:off x="4517136" y="2816352"/>
                <a:ext cx="1207008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Conservative (20%)</a:t>
                </a:r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" name="Shape 34"/>
              <p:cNvSpPr/>
              <p:nvPr/>
            </p:nvSpPr>
            <p:spPr>
              <a:xfrm>
                <a:off x="5806440" y="2816352"/>
                <a:ext cx="1280160" cy="292608"/>
              </a:xfrm>
              <a:prstGeom prst="rect">
                <a:avLst/>
              </a:prstGeom>
              <a:solidFill>
                <a:srgbClr val="0F172A"/>
              </a:solidFill>
              <a:ln w="3810">
                <a:solidFill>
                  <a:srgbClr val="E2E8F0"/>
                </a:solidFill>
                <a:prstDash val="solid"/>
              </a:ln>
            </p:spPr>
          </p:sp>
          <p:sp>
            <p:nvSpPr>
              <p:cNvPr id="37" name="Text 35"/>
              <p:cNvSpPr/>
              <p:nvPr/>
            </p:nvSpPr>
            <p:spPr>
              <a:xfrm>
                <a:off x="5843016" y="2816352"/>
                <a:ext cx="1207008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Base Case (50%)</a:t>
                </a:r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8" name="Shape 36"/>
              <p:cNvSpPr/>
              <p:nvPr/>
            </p:nvSpPr>
            <p:spPr>
              <a:xfrm>
                <a:off x="7132320" y="2816352"/>
                <a:ext cx="1280160" cy="292608"/>
              </a:xfrm>
              <a:prstGeom prst="rect">
                <a:avLst/>
              </a:prstGeom>
              <a:solidFill>
                <a:srgbClr val="0F172A"/>
              </a:solidFill>
              <a:ln w="3810">
                <a:solidFill>
                  <a:srgbClr val="E2E8F0"/>
                </a:solidFill>
                <a:prstDash val="solid"/>
              </a:ln>
            </p:spPr>
          </p:sp>
          <p:sp>
            <p:nvSpPr>
              <p:cNvPr id="39" name="Text 37"/>
              <p:cNvSpPr/>
              <p:nvPr/>
            </p:nvSpPr>
            <p:spPr>
              <a:xfrm>
                <a:off x="7168896" y="2816352"/>
                <a:ext cx="1207008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Optimistic (80%)</a:t>
                </a:r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" name="Shape 38"/>
              <p:cNvSpPr/>
              <p:nvPr/>
            </p:nvSpPr>
            <p:spPr>
              <a:xfrm>
                <a:off x="3246120" y="3127248"/>
                <a:ext cx="1188720" cy="384048"/>
              </a:xfrm>
              <a:prstGeom prst="rect">
                <a:avLst/>
              </a:prstGeom>
              <a:solidFill>
                <a:srgbClr val="F1F5F9"/>
              </a:solidFill>
              <a:ln w="3810">
                <a:solidFill>
                  <a:srgbClr val="E2E8F0"/>
                </a:solidFill>
                <a:prstDash val="solid"/>
              </a:ln>
            </p:spPr>
          </p:sp>
          <p:sp>
            <p:nvSpPr>
              <p:cNvPr id="41" name="Text 39"/>
              <p:cNvSpPr/>
              <p:nvPr/>
            </p:nvSpPr>
            <p:spPr>
              <a:xfrm>
                <a:off x="3282696" y="3127248"/>
                <a:ext cx="1115568" cy="384048"/>
              </a:xfrm>
              <a:prstGeom prst="rect">
                <a:avLst/>
              </a:prstGeom>
              <a:noFill/>
              <a:ln/>
            </p:spPr>
            <p:txBody>
              <a:bodyPr wrap="square" lIns="50800" tIns="50800" rIns="50800" bIns="5080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F172A"/>
                    </a:solidFill>
                    <a:effectLst/>
                    <a:uLnTx/>
                    <a:uFillTx/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Calls automated / day</a:t>
                </a:r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" name="Shape 40"/>
              <p:cNvSpPr/>
              <p:nvPr/>
            </p:nvSpPr>
            <p:spPr>
              <a:xfrm>
                <a:off x="4480560" y="3127248"/>
                <a:ext cx="1280160" cy="384048"/>
              </a:xfrm>
              <a:prstGeom prst="rect">
                <a:avLst/>
              </a:prstGeom>
              <a:solidFill>
                <a:srgbClr val="F8FAFC"/>
              </a:solidFill>
              <a:ln w="3810">
                <a:solidFill>
                  <a:srgbClr val="E2E8F0"/>
                </a:solidFill>
                <a:prstDash val="solid"/>
              </a:ln>
            </p:spPr>
          </p:sp>
          <p:sp>
            <p:nvSpPr>
              <p:cNvPr id="43" name="Text 41"/>
              <p:cNvSpPr/>
              <p:nvPr/>
            </p:nvSpPr>
            <p:spPr>
              <a:xfrm>
                <a:off x="4517136" y="3127248"/>
                <a:ext cx="1207008" cy="384048"/>
              </a:xfrm>
              <a:prstGeom prst="rect">
                <a:avLst/>
              </a:prstGeom>
              <a:noFill/>
              <a:ln/>
            </p:spPr>
            <p:txBody>
              <a:bodyPr wrap="square"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F172A"/>
                    </a:solidFill>
                    <a:effectLst/>
                    <a:uLnTx/>
                    <a:uFillTx/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148,000</a:t>
                </a:r>
                <a:endPara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4" name="Shape 42"/>
              <p:cNvSpPr/>
              <p:nvPr/>
            </p:nvSpPr>
            <p:spPr>
              <a:xfrm>
                <a:off x="5806440" y="3127248"/>
                <a:ext cx="1280160" cy="384048"/>
              </a:xfrm>
              <a:prstGeom prst="rect">
                <a:avLst/>
              </a:prstGeom>
              <a:solidFill>
                <a:srgbClr val="F8FAFC"/>
              </a:solidFill>
              <a:ln w="3810">
                <a:solidFill>
                  <a:srgbClr val="E2E8F0"/>
                </a:solidFill>
                <a:prstDash val="solid"/>
              </a:ln>
            </p:spPr>
          </p:sp>
          <p:sp>
            <p:nvSpPr>
              <p:cNvPr id="45" name="Text 43"/>
              <p:cNvSpPr/>
              <p:nvPr/>
            </p:nvSpPr>
            <p:spPr>
              <a:xfrm>
                <a:off x="5843016" y="3127248"/>
                <a:ext cx="1207008" cy="384048"/>
              </a:xfrm>
              <a:prstGeom prst="rect">
                <a:avLst/>
              </a:prstGeom>
              <a:noFill/>
              <a:ln/>
            </p:spPr>
            <p:txBody>
              <a:bodyPr wrap="square"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F172A"/>
                    </a:solidFill>
                    <a:effectLst/>
                    <a:uLnTx/>
                    <a:uFillTx/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370,000</a:t>
                </a:r>
                <a:endPara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" name="Shape 44"/>
              <p:cNvSpPr/>
              <p:nvPr/>
            </p:nvSpPr>
            <p:spPr>
              <a:xfrm>
                <a:off x="7132320" y="3127248"/>
                <a:ext cx="1280160" cy="384048"/>
              </a:xfrm>
              <a:prstGeom prst="rect">
                <a:avLst/>
              </a:prstGeom>
              <a:solidFill>
                <a:srgbClr val="F8FAFC"/>
              </a:solidFill>
              <a:ln w="3810">
                <a:solidFill>
                  <a:srgbClr val="E2E8F0"/>
                </a:solidFill>
                <a:prstDash val="solid"/>
              </a:ln>
            </p:spPr>
          </p:sp>
          <p:sp>
            <p:nvSpPr>
              <p:cNvPr id="47" name="Text 45"/>
              <p:cNvSpPr/>
              <p:nvPr/>
            </p:nvSpPr>
            <p:spPr>
              <a:xfrm>
                <a:off x="7168896" y="3127248"/>
                <a:ext cx="1207008" cy="384048"/>
              </a:xfrm>
              <a:prstGeom prst="rect">
                <a:avLst/>
              </a:prstGeom>
              <a:noFill/>
              <a:ln/>
            </p:spPr>
            <p:txBody>
              <a:bodyPr wrap="square"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F172A"/>
                    </a:solidFill>
                    <a:effectLst/>
                    <a:uLnTx/>
                    <a:uFillTx/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592,000</a:t>
                </a:r>
                <a:endPara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" name="Shape 46"/>
              <p:cNvSpPr/>
              <p:nvPr/>
            </p:nvSpPr>
            <p:spPr>
              <a:xfrm>
                <a:off x="3246120" y="3511296"/>
                <a:ext cx="1188720" cy="384048"/>
              </a:xfrm>
              <a:prstGeom prst="rect">
                <a:avLst/>
              </a:prstGeom>
              <a:solidFill>
                <a:srgbClr val="F1F5F9"/>
              </a:solidFill>
              <a:ln w="3810">
                <a:solidFill>
                  <a:srgbClr val="E2E8F0"/>
                </a:solidFill>
                <a:prstDash val="solid"/>
              </a:ln>
            </p:spPr>
          </p:sp>
          <p:sp>
            <p:nvSpPr>
              <p:cNvPr id="49" name="Text 47"/>
              <p:cNvSpPr/>
              <p:nvPr/>
            </p:nvSpPr>
            <p:spPr>
              <a:xfrm>
                <a:off x="3282696" y="3511296"/>
                <a:ext cx="1115568" cy="384048"/>
              </a:xfrm>
              <a:prstGeom prst="rect">
                <a:avLst/>
              </a:prstGeom>
              <a:noFill/>
              <a:ln/>
            </p:spPr>
            <p:txBody>
              <a:bodyPr wrap="square" lIns="50800" tIns="50800" rIns="50800" bIns="5080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F172A"/>
                    </a:solidFill>
                    <a:effectLst/>
                    <a:uLnTx/>
                    <a:uFillTx/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Annual saving (₹27.60/call)</a:t>
                </a:r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0" name="Shape 48"/>
              <p:cNvSpPr/>
              <p:nvPr/>
            </p:nvSpPr>
            <p:spPr>
              <a:xfrm>
                <a:off x="4480560" y="3511296"/>
                <a:ext cx="1280160" cy="384048"/>
              </a:xfrm>
              <a:prstGeom prst="rect">
                <a:avLst/>
              </a:prstGeom>
              <a:solidFill>
                <a:srgbClr val="FFFFFF"/>
              </a:solidFill>
              <a:ln w="3810">
                <a:solidFill>
                  <a:srgbClr val="E2E8F0"/>
                </a:solidFill>
                <a:prstDash val="solid"/>
              </a:ln>
            </p:spPr>
          </p:sp>
          <p:sp>
            <p:nvSpPr>
              <p:cNvPr id="51" name="Text 49"/>
              <p:cNvSpPr/>
              <p:nvPr/>
            </p:nvSpPr>
            <p:spPr>
              <a:xfrm>
                <a:off x="4517136" y="3511296"/>
                <a:ext cx="1207008" cy="384048"/>
              </a:xfrm>
              <a:prstGeom prst="rect">
                <a:avLst/>
              </a:prstGeom>
              <a:noFill/>
              <a:ln/>
            </p:spPr>
            <p:txBody>
              <a:bodyPr wrap="square"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F172A"/>
                    </a:solidFill>
                    <a:effectLst/>
                    <a:uLnTx/>
                    <a:uFillTx/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₹149 Cr</a:t>
                </a:r>
                <a:endPara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" name="Shape 50"/>
              <p:cNvSpPr/>
              <p:nvPr/>
            </p:nvSpPr>
            <p:spPr>
              <a:xfrm>
                <a:off x="5806440" y="3511296"/>
                <a:ext cx="1280160" cy="384048"/>
              </a:xfrm>
              <a:prstGeom prst="rect">
                <a:avLst/>
              </a:prstGeom>
              <a:solidFill>
                <a:srgbClr val="FFFFFF"/>
              </a:solidFill>
              <a:ln w="3810">
                <a:solidFill>
                  <a:srgbClr val="E2E8F0"/>
                </a:solidFill>
                <a:prstDash val="solid"/>
              </a:ln>
            </p:spPr>
          </p:sp>
          <p:sp>
            <p:nvSpPr>
              <p:cNvPr id="53" name="Text 51"/>
              <p:cNvSpPr/>
              <p:nvPr/>
            </p:nvSpPr>
            <p:spPr>
              <a:xfrm>
                <a:off x="5843016" y="3511296"/>
                <a:ext cx="1207008" cy="384048"/>
              </a:xfrm>
              <a:prstGeom prst="rect">
                <a:avLst/>
              </a:prstGeom>
              <a:noFill/>
              <a:ln/>
            </p:spPr>
            <p:txBody>
              <a:bodyPr wrap="square"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F172A"/>
                    </a:solidFill>
                    <a:effectLst/>
                    <a:uLnTx/>
                    <a:uFillTx/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₹373 Cr</a:t>
                </a:r>
                <a:endPara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" name="Shape 52"/>
              <p:cNvSpPr/>
              <p:nvPr/>
            </p:nvSpPr>
            <p:spPr>
              <a:xfrm>
                <a:off x="7132320" y="3511296"/>
                <a:ext cx="1280160" cy="384048"/>
              </a:xfrm>
              <a:prstGeom prst="rect">
                <a:avLst/>
              </a:prstGeom>
              <a:solidFill>
                <a:srgbClr val="FFFFFF"/>
              </a:solidFill>
              <a:ln w="3810">
                <a:solidFill>
                  <a:srgbClr val="E2E8F0"/>
                </a:solidFill>
                <a:prstDash val="solid"/>
              </a:ln>
            </p:spPr>
          </p:sp>
          <p:sp>
            <p:nvSpPr>
              <p:cNvPr id="55" name="Text 53"/>
              <p:cNvSpPr/>
              <p:nvPr/>
            </p:nvSpPr>
            <p:spPr>
              <a:xfrm>
                <a:off x="7168896" y="3511296"/>
                <a:ext cx="1207008" cy="384048"/>
              </a:xfrm>
              <a:prstGeom prst="rect">
                <a:avLst/>
              </a:prstGeom>
              <a:noFill/>
              <a:ln/>
            </p:spPr>
            <p:txBody>
              <a:bodyPr wrap="square"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F172A"/>
                    </a:solidFill>
                    <a:effectLst/>
                    <a:uLnTx/>
                    <a:uFillTx/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₹596 Cr</a:t>
                </a:r>
                <a:endPara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" name="Shape 54"/>
              <p:cNvSpPr/>
              <p:nvPr/>
            </p:nvSpPr>
            <p:spPr>
              <a:xfrm>
                <a:off x="3246120" y="3895344"/>
                <a:ext cx="1188720" cy="384048"/>
              </a:xfrm>
              <a:prstGeom prst="rect">
                <a:avLst/>
              </a:prstGeom>
              <a:solidFill>
                <a:srgbClr val="F1F5F9"/>
              </a:solidFill>
              <a:ln w="3810">
                <a:solidFill>
                  <a:srgbClr val="E2E8F0"/>
                </a:solidFill>
                <a:prstDash val="solid"/>
              </a:ln>
            </p:spPr>
          </p:sp>
          <p:sp>
            <p:nvSpPr>
              <p:cNvPr id="57" name="Text 55"/>
              <p:cNvSpPr/>
              <p:nvPr/>
            </p:nvSpPr>
            <p:spPr>
              <a:xfrm>
                <a:off x="3282696" y="3895344"/>
                <a:ext cx="1115568" cy="384048"/>
              </a:xfrm>
              <a:prstGeom prst="rect">
                <a:avLst/>
              </a:prstGeom>
              <a:noFill/>
              <a:ln/>
            </p:spPr>
            <p:txBody>
              <a:bodyPr wrap="square" lIns="50800" tIns="50800" rIns="50800" bIns="5080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F172A"/>
                    </a:solidFill>
                    <a:effectLst/>
                    <a:uLnTx/>
                    <a:uFillTx/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Net Year 1 (after all costs)</a:t>
                </a:r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" name="Shape 56"/>
              <p:cNvSpPr/>
              <p:nvPr/>
            </p:nvSpPr>
            <p:spPr>
              <a:xfrm>
                <a:off x="4480560" y="3895344"/>
                <a:ext cx="1280160" cy="384048"/>
              </a:xfrm>
              <a:prstGeom prst="rect">
                <a:avLst/>
              </a:prstGeom>
              <a:solidFill>
                <a:srgbClr val="F8FAFC"/>
              </a:solidFill>
              <a:ln w="3810">
                <a:solidFill>
                  <a:srgbClr val="E2E8F0"/>
                </a:solidFill>
                <a:prstDash val="solid"/>
              </a:ln>
            </p:spPr>
          </p:sp>
          <p:sp>
            <p:nvSpPr>
              <p:cNvPr id="59" name="Text 57"/>
              <p:cNvSpPr/>
              <p:nvPr/>
            </p:nvSpPr>
            <p:spPr>
              <a:xfrm>
                <a:off x="4517136" y="3895344"/>
                <a:ext cx="1207008" cy="384048"/>
              </a:xfrm>
              <a:prstGeom prst="rect">
                <a:avLst/>
              </a:prstGeom>
              <a:noFill/>
              <a:ln/>
            </p:spPr>
            <p:txBody>
              <a:bodyPr wrap="square"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65F46"/>
                    </a:solidFill>
                    <a:effectLst/>
                    <a:uLnTx/>
                    <a:uFillTx/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₹125–138 Cr</a:t>
                </a:r>
                <a:endPara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" name="Shape 58"/>
              <p:cNvSpPr/>
              <p:nvPr/>
            </p:nvSpPr>
            <p:spPr>
              <a:xfrm>
                <a:off x="5806440" y="3895344"/>
                <a:ext cx="1280160" cy="384048"/>
              </a:xfrm>
              <a:prstGeom prst="rect">
                <a:avLst/>
              </a:prstGeom>
              <a:solidFill>
                <a:srgbClr val="F8FAFC"/>
              </a:solidFill>
              <a:ln w="3810">
                <a:solidFill>
                  <a:srgbClr val="E2E8F0"/>
                </a:solidFill>
                <a:prstDash val="solid"/>
              </a:ln>
            </p:spPr>
          </p:sp>
          <p:sp>
            <p:nvSpPr>
              <p:cNvPr id="61" name="Text 59"/>
              <p:cNvSpPr/>
              <p:nvPr/>
            </p:nvSpPr>
            <p:spPr>
              <a:xfrm>
                <a:off x="5843016" y="3895344"/>
                <a:ext cx="1207008" cy="384048"/>
              </a:xfrm>
              <a:prstGeom prst="rect">
                <a:avLst/>
              </a:prstGeom>
              <a:noFill/>
              <a:ln/>
            </p:spPr>
            <p:txBody>
              <a:bodyPr wrap="square"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47857"/>
                    </a:solidFill>
                    <a:effectLst/>
                    <a:uLnTx/>
                    <a:uFillTx/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₹349–362 Cr</a:t>
                </a:r>
                <a:endPara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" name="Shape 60"/>
              <p:cNvSpPr/>
              <p:nvPr/>
            </p:nvSpPr>
            <p:spPr>
              <a:xfrm>
                <a:off x="7132320" y="3895344"/>
                <a:ext cx="1280160" cy="384048"/>
              </a:xfrm>
              <a:prstGeom prst="rect">
                <a:avLst/>
              </a:prstGeom>
              <a:solidFill>
                <a:srgbClr val="F8FAFC"/>
              </a:solidFill>
              <a:ln w="3810">
                <a:solidFill>
                  <a:srgbClr val="E2E8F0"/>
                </a:solidFill>
                <a:prstDash val="solid"/>
              </a:ln>
            </p:spPr>
          </p:sp>
          <p:sp>
            <p:nvSpPr>
              <p:cNvPr id="63" name="Text 61"/>
              <p:cNvSpPr/>
              <p:nvPr/>
            </p:nvSpPr>
            <p:spPr>
              <a:xfrm>
                <a:off x="7168896" y="3895344"/>
                <a:ext cx="1207008" cy="384048"/>
              </a:xfrm>
              <a:prstGeom prst="rect">
                <a:avLst/>
              </a:prstGeom>
              <a:noFill/>
              <a:ln/>
            </p:spPr>
            <p:txBody>
              <a:bodyPr wrap="square"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65F46"/>
                    </a:solidFill>
                    <a:effectLst/>
                    <a:uLnTx/>
                    <a:uFillTx/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₹572–585 Cr</a:t>
                </a:r>
                <a:endPara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" name="Shape 62"/>
              <p:cNvSpPr/>
              <p:nvPr/>
            </p:nvSpPr>
            <p:spPr>
              <a:xfrm>
                <a:off x="3246120" y="4279392"/>
                <a:ext cx="1188720" cy="384048"/>
              </a:xfrm>
              <a:prstGeom prst="rect">
                <a:avLst/>
              </a:prstGeom>
              <a:solidFill>
                <a:srgbClr val="F1F5F9"/>
              </a:solidFill>
              <a:ln w="3810">
                <a:solidFill>
                  <a:srgbClr val="E2E8F0"/>
                </a:solidFill>
                <a:prstDash val="solid"/>
              </a:ln>
            </p:spPr>
          </p:sp>
          <p:sp>
            <p:nvSpPr>
              <p:cNvPr id="65" name="Text 63"/>
              <p:cNvSpPr/>
              <p:nvPr/>
            </p:nvSpPr>
            <p:spPr>
              <a:xfrm>
                <a:off x="3282696" y="4279392"/>
                <a:ext cx="1115568" cy="384048"/>
              </a:xfrm>
              <a:prstGeom prst="rect">
                <a:avLst/>
              </a:prstGeom>
              <a:noFill/>
              <a:ln/>
            </p:spPr>
            <p:txBody>
              <a:bodyPr wrap="square" lIns="50800" tIns="50800" rIns="50800" bIns="5080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F172A"/>
                    </a:solidFill>
                    <a:effectLst/>
                    <a:uLnTx/>
                    <a:uFillTx/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Break-even timeline</a:t>
                </a:r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" name="Shape 64"/>
              <p:cNvSpPr/>
              <p:nvPr/>
            </p:nvSpPr>
            <p:spPr>
              <a:xfrm>
                <a:off x="4480560" y="4279392"/>
                <a:ext cx="1280160" cy="384048"/>
              </a:xfrm>
              <a:prstGeom prst="rect">
                <a:avLst/>
              </a:prstGeom>
              <a:solidFill>
                <a:srgbClr val="ECFDF5"/>
              </a:solidFill>
              <a:ln w="3810">
                <a:solidFill>
                  <a:srgbClr val="E2E8F0"/>
                </a:solidFill>
                <a:prstDash val="solid"/>
              </a:ln>
            </p:spPr>
          </p:sp>
          <p:sp>
            <p:nvSpPr>
              <p:cNvPr id="67" name="Text 65"/>
              <p:cNvSpPr/>
              <p:nvPr/>
            </p:nvSpPr>
            <p:spPr>
              <a:xfrm>
                <a:off x="4517136" y="4279392"/>
                <a:ext cx="1207008" cy="384048"/>
              </a:xfrm>
              <a:prstGeom prst="rect">
                <a:avLst/>
              </a:prstGeom>
              <a:noFill/>
              <a:ln/>
            </p:spPr>
            <p:txBody>
              <a:bodyPr wrap="square"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F172A"/>
                    </a:solidFill>
                    <a:effectLst/>
                    <a:uLnTx/>
                    <a:uFillTx/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~5 weeks</a:t>
                </a:r>
                <a:endPara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8" name="Shape 66"/>
              <p:cNvSpPr/>
              <p:nvPr/>
            </p:nvSpPr>
            <p:spPr>
              <a:xfrm>
                <a:off x="5806440" y="4279392"/>
                <a:ext cx="1280160" cy="384048"/>
              </a:xfrm>
              <a:prstGeom prst="rect">
                <a:avLst/>
              </a:prstGeom>
              <a:solidFill>
                <a:srgbClr val="ECFDF5"/>
              </a:solidFill>
              <a:ln w="3810">
                <a:solidFill>
                  <a:srgbClr val="E2E8F0"/>
                </a:solidFill>
                <a:prstDash val="solid"/>
              </a:ln>
            </p:spPr>
          </p:sp>
          <p:sp>
            <p:nvSpPr>
              <p:cNvPr id="69" name="Text 67"/>
              <p:cNvSpPr/>
              <p:nvPr/>
            </p:nvSpPr>
            <p:spPr>
              <a:xfrm>
                <a:off x="5843016" y="4279392"/>
                <a:ext cx="1207008" cy="384048"/>
              </a:xfrm>
              <a:prstGeom prst="rect">
                <a:avLst/>
              </a:prstGeom>
              <a:noFill/>
              <a:ln/>
            </p:spPr>
            <p:txBody>
              <a:bodyPr wrap="square"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F172A"/>
                    </a:solidFill>
                    <a:effectLst/>
                    <a:uLnTx/>
                    <a:uFillTx/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~2 weeks</a:t>
                </a:r>
                <a:endPara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0" name="Shape 68"/>
              <p:cNvSpPr/>
              <p:nvPr/>
            </p:nvSpPr>
            <p:spPr>
              <a:xfrm>
                <a:off x="7132320" y="4279392"/>
                <a:ext cx="1280160" cy="384048"/>
              </a:xfrm>
              <a:prstGeom prst="rect">
                <a:avLst/>
              </a:prstGeom>
              <a:solidFill>
                <a:srgbClr val="ECFDF5"/>
              </a:solidFill>
              <a:ln w="3810">
                <a:solidFill>
                  <a:srgbClr val="E2E8F0"/>
                </a:solidFill>
                <a:prstDash val="solid"/>
              </a:ln>
            </p:spPr>
          </p:sp>
          <p:sp>
            <p:nvSpPr>
              <p:cNvPr id="71" name="Text 69"/>
              <p:cNvSpPr/>
              <p:nvPr/>
            </p:nvSpPr>
            <p:spPr>
              <a:xfrm>
                <a:off x="7168896" y="4279392"/>
                <a:ext cx="1207008" cy="384048"/>
              </a:xfrm>
              <a:prstGeom prst="rect">
                <a:avLst/>
              </a:prstGeom>
              <a:noFill/>
              <a:ln/>
            </p:spPr>
            <p:txBody>
              <a:bodyPr wrap="square"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F172A"/>
                    </a:solidFill>
                    <a:effectLst/>
                    <a:uLnTx/>
                    <a:uFillTx/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~1 week</a:t>
                </a:r>
                <a:endPara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72" name="Text 70"/>
          <p:cNvSpPr/>
          <p:nvPr/>
        </p:nvSpPr>
        <p:spPr>
          <a:xfrm>
            <a:off x="566928" y="110442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Stated assumptions: 950K calls/day, 78% Tier-1 automatable, ₹28/call human cost, ₹0.40/call AI cost, 6-month linear ramp to stated adoption level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645090" y="4819203"/>
            <a:ext cx="7767390" cy="182880"/>
          </a:xfrm>
          <a:prstGeom prst="rect">
            <a:avLst/>
          </a:prstGeom>
          <a:solidFill>
            <a:srgbClr val="ECFDF5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upside: 1% churn reduction = ₹85 Cr ARR retained  ·  Upsell via bot: +₹2–5 ARPU  ·  Call transcripts = continuous product intelligence at zero extra cost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2"/>
          <p:cNvSpPr/>
          <p:nvPr/>
        </p:nvSpPr>
        <p:spPr>
          <a:xfrm>
            <a:off x="5559552" y="1207008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90-Day Enterprise Rollout Plan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 of current state — and a structured path to full-scale deployment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8229600" cy="22860"/>
          </a:xfrm>
          <a:prstGeom prst="rect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207008"/>
            <a:ext cx="166420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29768" y="1298448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System Integration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29768" y="1536192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CRM, billing &amp; IVR integration. Responses are generic without live subscriber data.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066544" y="1207008"/>
            <a:ext cx="166420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EF4C1B1-E224-BA94-9DE2-CFE588EDD9FB}"/>
              </a:ext>
            </a:extLst>
          </p:cNvPr>
          <p:cNvGrpSpPr/>
          <p:nvPr/>
        </p:nvGrpSpPr>
        <p:grpSpPr>
          <a:xfrm>
            <a:off x="5671820" y="1311656"/>
            <a:ext cx="1444752" cy="813816"/>
            <a:chOff x="5671820" y="1311656"/>
            <a:chExt cx="1444752" cy="813816"/>
          </a:xfrm>
        </p:grpSpPr>
        <p:sp>
          <p:nvSpPr>
            <p:cNvPr id="9" name="Text 7"/>
            <p:cNvSpPr/>
            <p:nvPr/>
          </p:nvSpPr>
          <p:spPr>
            <a:xfrm>
              <a:off x="5671820" y="1311656"/>
              <a:ext cx="144475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🧠  KB Richness</a:t>
              </a:r>
              <a:endParaRPr lang="en-US" sz="9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5671820" y="1531112"/>
              <a:ext cx="1444752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Bot currently works on limited data set.  Accuracy mirrors richness of data.</a:t>
              </a:r>
              <a:endParaRPr lang="en-US" sz="800" dirty="0"/>
            </a:p>
          </p:txBody>
        </p:sp>
      </p:grpSp>
      <p:sp>
        <p:nvSpPr>
          <p:cNvPr id="11" name="Shape 9"/>
          <p:cNvSpPr/>
          <p:nvPr/>
        </p:nvSpPr>
        <p:spPr>
          <a:xfrm>
            <a:off x="3813048" y="1207008"/>
            <a:ext cx="166420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922776" y="1298448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Compliance &amp; Auth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922776" y="1536192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 data residency and OTP caller authentication required before exposing account data.</a:t>
            </a:r>
            <a:endParaRPr lang="en-US" sz="800" dirty="0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B7D52E8A-67CC-5FEF-051A-DB8E8F174C45}"/>
              </a:ext>
            </a:extLst>
          </p:cNvPr>
          <p:cNvGrpSpPr/>
          <p:nvPr/>
        </p:nvGrpSpPr>
        <p:grpSpPr>
          <a:xfrm>
            <a:off x="2219452" y="1305306"/>
            <a:ext cx="1593596" cy="761238"/>
            <a:chOff x="5669280" y="1298448"/>
            <a:chExt cx="1593596" cy="761238"/>
          </a:xfrm>
        </p:grpSpPr>
        <p:sp>
          <p:nvSpPr>
            <p:cNvPr id="15" name="Text 13"/>
            <p:cNvSpPr/>
            <p:nvPr/>
          </p:nvSpPr>
          <p:spPr>
            <a:xfrm>
              <a:off x="5669280" y="1298448"/>
              <a:ext cx="144475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00" b="1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🗣 Model Fine Tuning</a:t>
              </a:r>
              <a:endParaRPr lang="en-US" sz="9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5669280" y="1465326"/>
              <a:ext cx="1593596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IN" sz="8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 provide on-brand, contextually accurate responses at scale</a:t>
              </a:r>
              <a:endPara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</p:txBody>
        </p:sp>
      </p:grpSp>
      <p:sp>
        <p:nvSpPr>
          <p:cNvPr id="17" name="Shape 15"/>
          <p:cNvSpPr/>
          <p:nvPr/>
        </p:nvSpPr>
        <p:spPr>
          <a:xfrm>
            <a:off x="7306056" y="1207008"/>
            <a:ext cx="166420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15784" y="1298448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Change Management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415784" y="1536192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and stakeholder buy-in is a deployment risk as significant as any technical dependency.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20040" y="234086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ENTERPRISE ROLLOUT PLAN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0040" y="2542032"/>
            <a:ext cx="85039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2596896"/>
            <a:ext cx="2743200" cy="2340864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596896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2825496"/>
            <a:ext cx="2743200" cy="1554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768" y="267004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1–30  ·  Scope &amp; Commit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29768" y="3035808"/>
            <a:ext cx="2523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Activities: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29768" y="3182112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discovery · baseline measurement · success metrics workshop · stakeholder alignment (IT, CISO, CFO) · MSA signed · KB audit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29768" y="3502152"/>
            <a:ext cx="2523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commits: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29768" y="3648456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sponsor · IT point of contact · KB documentation · Success metrics signed off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29768" y="3968496"/>
            <a:ext cx="2523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29768" y="4114800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scope + agreed KPIs · Architecture blueprint · KB v1 validated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29768" y="4434840"/>
            <a:ext cx="2523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KPIs: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29768" y="4581144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scope document · Architecture blueprint approved · KB v1 ingested and validated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177540" y="2596896"/>
            <a:ext cx="2743200" cy="2340864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177540" y="2596896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177540" y="2825496"/>
            <a:ext cx="2743200" cy="1554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87268" y="267004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31–60  ·  Pilot &amp; Validate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287268" y="3035808"/>
            <a:ext cx="2523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Activities: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287268" y="3182112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Telephony + CRM integration · security &amp; TRAI audit · soft launch 2–5% volume · weekly review cadence · failure sprint cycles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287268" y="3502152"/>
            <a:ext cx="2523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commits: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287268" y="3648456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IT resources · contact centre supervisor · weekly review attendance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3287268" y="3968496"/>
            <a:ext cx="2523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3287268" y="4114800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pilot running · Week-6 CXO deck with real CSAT + cost-per-call data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3287268" y="4434840"/>
            <a:ext cx="2523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KPIs: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287268" y="4581144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 rate · First call resolution · Escalation rate · Latency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035040" y="2596896"/>
            <a:ext cx="2743200" cy="2340864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035040" y="2596896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035040" y="2825496"/>
            <a:ext cx="2743200" cy="15544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44768" y="267004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61–90  ·  Scale &amp; Prove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144768" y="3035808"/>
            <a:ext cx="2523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Activities: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144768" y="3182112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15–25% across 2 circles · query type + language expansion · commercial review · board presentation · Phase 2 SOW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6144768" y="3502152"/>
            <a:ext cx="2523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commits: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6144768" y="3648456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CXO for board presentation · Contact centre team feedback session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6144768" y="3968496"/>
            <a:ext cx="2523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6144768" y="4114800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Board-ready ROI report on live data · Phase 2 business case · Full-scale approval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6144768" y="4434840"/>
            <a:ext cx="2523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KPIs: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144768" y="4581144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call vs baseline · NPS delta · Automation rate · Monthly ₹ saved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3054096" y="3648456"/>
            <a:ext cx="1325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911596" y="3648456"/>
            <a:ext cx="1325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320040" y="4956048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Neerav Mahadevan  ·  github.com/nrvm94/sarvam-telecom-bot  ·  June 2026  ·  Sarvam AI Pre-Sales Assignment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1003</TotalTime>
  <Words>1891</Words>
  <Application>Microsoft Office PowerPoint</Application>
  <PresentationFormat>On-screen Show (16:9)</PresentationFormat>
  <Paragraphs>310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Sarvam AI — Airtel Voice Support Bot</dc:title>
  <dc:subject>PptxGenJS Presentation</dc:subject>
  <dc:creator>Neerav Mahadevan</dc:creator>
  <cp:lastModifiedBy>Neerav Mahadane</cp:lastModifiedBy>
  <cp:revision>7</cp:revision>
  <dcterms:created xsi:type="dcterms:W3CDTF">2026-06-14T19:29:28Z</dcterms:created>
  <dcterms:modified xsi:type="dcterms:W3CDTF">2026-06-15T12:14:49Z</dcterms:modified>
</cp:coreProperties>
</file>